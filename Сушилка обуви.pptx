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7" r:id="rId18"/>
    <p:sldId id="278" r:id="rId19"/>
    <p:sldId id="279" r:id="rId20"/>
    <p:sldId id="280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572B0B-907D-3188-63A3-6C8C8A5B04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8887F3F-67F5-EF0E-5269-A80F742644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3602BA-44C0-3342-805F-6A5612512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E30A-57D9-414C-B413-85343E630B78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172B09-E855-4D2D-41A2-CAAB47F67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A6684E-ABDD-BFF7-8F68-F694EBC94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787E-A192-469F-8EDA-EF93D3FDE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94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FD0D32-8EFF-74D3-DB12-00AC1F16F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5FBFA4E-8FD6-7A3D-5A89-BE657BB70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3D739A-D530-0EA9-AD7A-3FA728723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E30A-57D9-414C-B413-85343E630B78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844584-95ED-7329-CC50-F4B66BEA5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17D73D-FC3E-1A2E-EC45-C5BD6A310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787E-A192-469F-8EDA-EF93D3FDE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8920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DEB406-B5F8-1697-D0C7-9F96DF1C3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F1BB7D-0FC1-E9C8-85C2-9261137423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A496B9-9DE1-4150-7D25-8BE72804E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E30A-57D9-414C-B413-85343E630B78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7D025C-1A8C-53CC-DB89-7D28F6FA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D3039E-46C4-857D-8C0C-466FE81C9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787E-A192-469F-8EDA-EF93D3FDE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2900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B24BE0-A325-320B-38CA-13ED377E1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9B4A5C-80C2-EA88-9040-70224C326B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A881D29-58D1-627F-2600-35474A55D1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BD758C1-DA5E-CCDE-4C03-5652E0A71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E30A-57D9-414C-B413-85343E630B78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236ADD1-5609-D233-D854-5B8B10206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BB90777-E22F-19B8-16EE-220196DA4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787E-A192-469F-8EDA-EF93D3FDE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929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8EC5B4-891B-D080-1CFC-FC3D1A626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78088B1-C34D-E1A3-A1B9-73E1A343C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8AE5703-BDE6-E682-1FCC-8B67688393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1308A13-27A8-E53B-C925-89D0A74325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300CF20-B1A8-D001-467F-8C61A4DC41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9750FAE-7985-09F5-5AA4-804F6D079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E30A-57D9-414C-B413-85343E630B78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9F1A5CB-B8A7-5895-75DF-AC84602E1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14F2A81-54D7-AC4B-CC0B-84212728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787E-A192-469F-8EDA-EF93D3FDE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359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14BABF-DE7D-4358-D9A0-DD0D34693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2A8AD62-17E2-DEAC-4FFC-50D6BE553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E30A-57D9-414C-B413-85343E630B78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E23A5A5-09AF-3E22-43BE-0EA16723A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51DDFA3-1258-0578-0507-CA8C107E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787E-A192-469F-8EDA-EF93D3FDE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552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19FE282-C5B7-8690-DA5F-71E036D5E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E30A-57D9-414C-B413-85343E630B78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FECE90F-E559-736E-A4E1-5045F8070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017D294-FDFF-09A5-4F30-3F7BA342A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787E-A192-469F-8EDA-EF93D3FDE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4161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C722D5-3764-F6BC-668C-E1F789932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E7FAE2-C002-2B9A-8B1B-92ED009A6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A1E2EB-E0E7-81E6-5503-2BBF8BC1EF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ABA2361-A30E-3753-9213-BA70F6DB6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E30A-57D9-414C-B413-85343E630B78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4F50E3-0C82-CAE4-9605-5A46718D0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5E3116-6EA8-5F7A-FC4F-9EC9F226D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787E-A192-469F-8EDA-EF93D3FDE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9912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24D905-C892-980C-4879-2B8361220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C256E5B-C13E-8637-E417-6ABE3F6A02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EC14BAA-89FB-2204-DB47-342D7C965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4742CB-9B45-A8B5-1597-69F6B3150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E30A-57D9-414C-B413-85343E630B78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8806DDB-A6A2-0BDD-DE03-105593873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F47CF30-5592-A26C-EF34-68D9C6231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787E-A192-469F-8EDA-EF93D3FDE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2029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1038F4-F1EC-49CD-2B8A-046ACD3F2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3D7C90B-F44A-0096-8F4A-32BC6298AB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BB4799-2082-A694-088B-EAAB5D501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E30A-57D9-414C-B413-85343E630B78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CB3A0B-7CFB-099B-85B3-220AAFA37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C0E4A1-06FD-AA25-491E-2174BBFB7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787E-A192-469F-8EDA-EF93D3FDE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1866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E28EE53-790B-2085-CDE1-8DDB13E03A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CDDFC75-3058-91A8-1E08-5F12B94B5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B7555A-1AB9-5833-D755-794D46730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1E30A-57D9-414C-B413-85343E630B78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AFAFBB-B7EF-D9A8-2312-530E1A08F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59555E-BFEC-FBA2-B985-0456FC26B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787E-A192-469F-8EDA-EF93D3FDE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6393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946DDD-C9BC-D2C7-7D82-EA525F4B1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8BD525F-89AE-66A4-CFF6-BBBD676C9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83E3EFD-A1DA-85B2-D032-5205A7CE72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1E30A-57D9-414C-B413-85343E630B78}" type="datetimeFigureOut">
              <a:rPr lang="ru-RU" smtClean="0"/>
              <a:t>11.05.2025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2737B4B-32EB-5FB6-8C2A-D3E8844CD6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AEA634-DB25-3FF4-1275-7D5E10A3F3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9787E-A192-469F-8EDA-EF93D3FDE8A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532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680865-C8EE-D4E1-3969-07C2039BAA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Сушилка обуви с  автоотключением</a:t>
            </a:r>
          </a:p>
        </p:txBody>
      </p:sp>
    </p:spTree>
    <p:extLst>
      <p:ext uri="{BB962C8B-B14F-4D97-AF65-F5344CB8AC3E}">
        <p14:creationId xmlns:p14="http://schemas.microsoft.com/office/powerpoint/2010/main" val="985187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96C9C2-7E41-E3AF-1901-88855DBE2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89019"/>
          </a:xfrm>
        </p:spPr>
        <p:txBody>
          <a:bodyPr>
            <a:normAutofit fontScale="90000"/>
          </a:bodyPr>
          <a:lstStyle/>
          <a:p>
            <a:r>
              <a:rPr lang="ru-RU" dirty="0"/>
              <a:t>           Диаграмма системного контекста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4AC2C87-6D40-DCF6-D0BC-101565EC8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965" y="1092875"/>
            <a:ext cx="8670070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118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1D9C39B-7318-8101-5704-FD4A50CF9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89019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Диаграмма входов и выходов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BB25DA4-E22A-6CF7-D4A4-698BF3E32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418484"/>
            <a:ext cx="10327869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011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9CDA914-ABFF-D889-EAFF-56FEE6DAB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89019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Архитектурное представление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5888D52-5F16-103C-CAAA-5E22A428D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462" y="919162"/>
            <a:ext cx="6105525" cy="572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46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9FC185-3AAE-2C9C-9080-9923ED077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ru-RU" sz="4000" dirty="0"/>
              <a:t>Проблемы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50349F-1FC9-51D8-603D-2E817334E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Проблема опасности при оставлении без присмотра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ru-RU" dirty="0"/>
              <a:t>При оставлении пользователем электрического прибора без присмотра возникает риск пожара.</a:t>
            </a:r>
          </a:p>
          <a:p>
            <a:pPr marL="0" indent="0">
              <a:buNone/>
            </a:pPr>
            <a:r>
              <a:rPr lang="ru-RU" dirty="0"/>
              <a:t>Проблема порчи материалов обуви при излишней сушке:</a:t>
            </a:r>
          </a:p>
          <a:p>
            <a:pPr lvl="1"/>
            <a:r>
              <a:rPr lang="ru-RU" dirty="0"/>
              <a:t>После удаления влаги из обуви дальнейшее излучение тепла может навредить изделию.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8287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2EDDB0-8B17-97AF-E38E-E4BB2A3F6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Цели деятельности в надсистеме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C1CE065-BCEC-B7C9-9A77-D9181065D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/>
          <a:lstStyle/>
          <a:p>
            <a:r>
              <a:rPr lang="ru-RU" dirty="0"/>
              <a:t>Обеспечивать безопасность при оставлении без присмотра.</a:t>
            </a:r>
          </a:p>
          <a:p>
            <a:r>
              <a:rPr lang="ru-RU" dirty="0"/>
              <a:t>Контролировать цикл сушки и автоматически отключать излучение тепла по его завершении.</a:t>
            </a:r>
          </a:p>
        </p:txBody>
      </p:sp>
    </p:spTree>
    <p:extLst>
      <p:ext uri="{BB962C8B-B14F-4D97-AF65-F5344CB8AC3E}">
        <p14:creationId xmlns:p14="http://schemas.microsoft.com/office/powerpoint/2010/main" val="39209234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A9DC18-3774-87AE-7ACC-DAF254A86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Операционные способности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CB1E35-773B-7BAB-EB6D-9F749FA22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r>
              <a:rPr lang="ru-RU" dirty="0"/>
              <a:t>Удалять влагу изнутри обуви</a:t>
            </a:r>
          </a:p>
          <a:p>
            <a:r>
              <a:rPr lang="ru-RU" dirty="0"/>
              <a:t>Отслеживать уровень влажности микроклимата обуви</a:t>
            </a:r>
          </a:p>
        </p:txBody>
      </p:sp>
    </p:spTree>
    <p:extLst>
      <p:ext uri="{BB962C8B-B14F-4D97-AF65-F5344CB8AC3E}">
        <p14:creationId xmlns:p14="http://schemas.microsoft.com/office/powerpoint/2010/main" val="1638131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8B41D7-FD1D-D9FE-6874-32654EE5A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Операционные требования и ограничения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8528C6-2DED-3447-E8BA-CEF92E8AD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/>
              <a:t>Интервал температуры нагрева от 55</a:t>
            </a: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°С до 65°С.</a:t>
            </a:r>
            <a:endParaRPr lang="ru-RU" dirty="0"/>
          </a:p>
          <a:p>
            <a:r>
              <a:rPr lang="ru-RU" dirty="0"/>
              <a:t>Нагрев поверхности до необходимой температуры менее чем за 5 минут.</a:t>
            </a:r>
          </a:p>
          <a:p>
            <a:r>
              <a:rPr lang="ru-RU" dirty="0"/>
              <a:t>Напряжение сети не менее 200в.</a:t>
            </a:r>
          </a:p>
          <a:p>
            <a:r>
              <a:rPr lang="ru-RU" dirty="0"/>
              <a:t>Автоматическое отключение при завершении цикла сушки.</a:t>
            </a:r>
          </a:p>
          <a:p>
            <a:r>
              <a:rPr lang="ru-RU" dirty="0"/>
              <a:t>Срок службы без поломок от 2 лет.</a:t>
            </a:r>
          </a:p>
          <a:p>
            <a:r>
              <a:rPr lang="ru-RU" dirty="0"/>
              <a:t>Световой сигнал состояния устройства.</a:t>
            </a:r>
          </a:p>
          <a:p>
            <a:r>
              <a:rPr lang="ru-RU" dirty="0"/>
              <a:t>Нагревательный элемент может быть причиной пожара.</a:t>
            </a:r>
          </a:p>
        </p:txBody>
      </p:sp>
    </p:spTree>
    <p:extLst>
      <p:ext uri="{BB962C8B-B14F-4D97-AF65-F5344CB8AC3E}">
        <p14:creationId xmlns:p14="http://schemas.microsoft.com/office/powerpoint/2010/main" val="1488175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51F870-0A3F-E6A1-D600-3F89C7C77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Цели деятельности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BBD91A-BD4C-E19B-D99E-BA8217FCB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/>
          <a:lstStyle/>
          <a:p>
            <a:r>
              <a:rPr lang="ru-RU" dirty="0"/>
              <a:t>Удалять излишнюю влагу из материалов обуви</a:t>
            </a:r>
          </a:p>
          <a:p>
            <a:r>
              <a:rPr lang="ru-RU" dirty="0"/>
              <a:t>Отключаться при завершении цикла сушки</a:t>
            </a:r>
          </a:p>
          <a:p>
            <a:r>
              <a:rPr lang="ru-RU" dirty="0"/>
              <a:t>Сигнализировать пользователю о состоянии устройства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04551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296E41-1783-8359-85F6-8061D5CBF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Фазы интересующей системы</a:t>
            </a:r>
            <a:r>
              <a:rPr lang="en-US" sz="4000" dirty="0"/>
              <a:t>: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87BAC3-EA03-C3B8-848B-4700AA1D8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715808"/>
          </a:xfrm>
        </p:spPr>
        <p:txBody>
          <a:bodyPr>
            <a:normAutofit/>
          </a:bodyPr>
          <a:lstStyle/>
          <a:p>
            <a:r>
              <a:rPr lang="ru-RU" dirty="0"/>
              <a:t>Подготовительная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Подключение устройства к сети</a:t>
            </a:r>
          </a:p>
          <a:p>
            <a:pPr lvl="1"/>
            <a:r>
              <a:rPr lang="ru-RU" dirty="0"/>
              <a:t>Размещение устройства внутри обуви</a:t>
            </a:r>
          </a:p>
          <a:p>
            <a:pPr lvl="1"/>
            <a:r>
              <a:rPr lang="ru-RU" dirty="0"/>
              <a:t>Включение сушки</a:t>
            </a:r>
          </a:p>
          <a:p>
            <a:r>
              <a:rPr lang="ru-RU" dirty="0"/>
              <a:t>Исполнительная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ru-RU" dirty="0"/>
              <a:t>Удаление излишней влаги излучаемым теплом</a:t>
            </a:r>
          </a:p>
          <a:p>
            <a:pPr lvl="1"/>
            <a:r>
              <a:rPr lang="ru-RU" dirty="0"/>
              <a:t>Отключение от сети</a:t>
            </a:r>
          </a:p>
          <a:p>
            <a:r>
              <a:rPr lang="ru-RU" dirty="0"/>
              <a:t>Фаза обслуживания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Надлежащее хранение</a:t>
            </a:r>
          </a:p>
          <a:p>
            <a:pPr marL="457200" lvl="1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29363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0B564B-CF70-DB42-B20C-CB285B74A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Роли в фазах достижения миссии</a:t>
            </a:r>
            <a:r>
              <a:rPr lang="en-US" sz="4000" dirty="0"/>
              <a:t>: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31CEF9-A65A-DACE-ED9A-BC1B09DB5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612114"/>
          </a:xfrm>
        </p:spPr>
        <p:txBody>
          <a:bodyPr>
            <a:normAutofit/>
          </a:bodyPr>
          <a:lstStyle/>
          <a:p>
            <a:r>
              <a:rPr lang="ru-RU" dirty="0"/>
              <a:t>Включение устройства – человек</a:t>
            </a:r>
          </a:p>
          <a:p>
            <a:r>
              <a:rPr lang="ru-RU" dirty="0"/>
              <a:t>Размещение устройства – человек</a:t>
            </a:r>
          </a:p>
          <a:p>
            <a:r>
              <a:rPr lang="ru-RU" dirty="0"/>
              <a:t>Нагрев поверхности до необходимой температуры – сушилка</a:t>
            </a:r>
          </a:p>
          <a:p>
            <a:r>
              <a:rPr lang="ru-RU" dirty="0"/>
              <a:t>Удаление влаги из материалов обуви – сушилка</a:t>
            </a:r>
          </a:p>
          <a:p>
            <a:r>
              <a:rPr lang="ru-RU" dirty="0"/>
              <a:t>Определение влажности микроклимата обуви – сушилка</a:t>
            </a:r>
          </a:p>
          <a:p>
            <a:r>
              <a:rPr lang="ru-RU" dirty="0"/>
              <a:t>Выключение устройства – человек </a:t>
            </a:r>
          </a:p>
          <a:p>
            <a:r>
              <a:rPr lang="ru-RU" dirty="0"/>
              <a:t>Автоматическое отключение при завершении цикла сушки – сушилка</a:t>
            </a:r>
          </a:p>
        </p:txBody>
      </p:sp>
    </p:spTree>
    <p:extLst>
      <p:ext uri="{BB962C8B-B14F-4D97-AF65-F5344CB8AC3E}">
        <p14:creationId xmlns:p14="http://schemas.microsoft.com/office/powerpoint/2010/main" val="3190514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B786F3-942F-F79B-ED45-959F13DAA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Mission</a:t>
            </a:r>
            <a:r>
              <a:rPr lang="ru-RU" sz="4000" dirty="0"/>
              <a:t> </a:t>
            </a:r>
            <a:r>
              <a:rPr lang="en-US" sz="4000" dirty="0"/>
              <a:t>UC</a:t>
            </a:r>
            <a:r>
              <a:rPr lang="ru-RU" sz="4000" dirty="0"/>
              <a:t> </a:t>
            </a:r>
            <a:r>
              <a:rPr lang="en-US" sz="4000" dirty="0"/>
              <a:t>Analysis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F33633-9C3D-53DE-FCEA-55EFAE1A8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494393"/>
          </a:xfrm>
        </p:spPr>
        <p:txBody>
          <a:bodyPr>
            <a:normAutofit/>
          </a:bodyPr>
          <a:lstStyle/>
          <a:p>
            <a:r>
              <a:rPr lang="en-US" dirty="0"/>
              <a:t>Use case 1: </a:t>
            </a:r>
            <a:r>
              <a:rPr lang="ru-RU" dirty="0"/>
              <a:t>Подготовка устройства к сушке</a:t>
            </a:r>
          </a:p>
          <a:p>
            <a:r>
              <a:rPr lang="ru-RU" dirty="0" err="1"/>
              <a:t>Акторы</a:t>
            </a:r>
            <a:r>
              <a:rPr lang="en-US" dirty="0"/>
              <a:t>: </a:t>
            </a:r>
            <a:r>
              <a:rPr lang="ru-RU" dirty="0"/>
              <a:t>пользователь, сушилка</a:t>
            </a:r>
          </a:p>
          <a:p>
            <a:r>
              <a:rPr lang="ru-RU" dirty="0"/>
              <a:t>Основной сценарий</a:t>
            </a:r>
            <a:r>
              <a:rPr lang="en-US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Пользователь подключает сушилку к сети.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Пользователь устанавливает сушилку внутрь обуви.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Сушилка определяет уровень влажности микроклимата обуви.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Пользователь включает режим сушки.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Сушилка световым сигналом отображает включение устройства.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Сушилка начинает нагревать поверхность до необходимой температуры.</a:t>
            </a:r>
          </a:p>
        </p:txBody>
      </p:sp>
    </p:spTree>
    <p:extLst>
      <p:ext uri="{BB962C8B-B14F-4D97-AF65-F5344CB8AC3E}">
        <p14:creationId xmlns:p14="http://schemas.microsoft.com/office/powerpoint/2010/main" val="1383886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36B869-8C24-FB8A-5CA6-C9EC2844C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Mission</a:t>
            </a:r>
            <a:r>
              <a:rPr lang="ru-RU" sz="4000" dirty="0"/>
              <a:t> </a:t>
            </a:r>
            <a:r>
              <a:rPr lang="en-US" sz="4000" dirty="0"/>
              <a:t>UC</a:t>
            </a:r>
            <a:r>
              <a:rPr lang="ru-RU" sz="4000" dirty="0"/>
              <a:t> </a:t>
            </a:r>
            <a:r>
              <a:rPr lang="en-US" sz="4000" dirty="0"/>
              <a:t>Analysis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889CA6-7D19-135D-CC50-F71C5EEBC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/>
          <a:lstStyle/>
          <a:p>
            <a:r>
              <a:rPr lang="en-US" dirty="0"/>
              <a:t>Use case </a:t>
            </a:r>
            <a:r>
              <a:rPr lang="ru-RU" dirty="0"/>
              <a:t>2</a:t>
            </a:r>
            <a:r>
              <a:rPr lang="en-US" dirty="0"/>
              <a:t>: </a:t>
            </a:r>
            <a:r>
              <a:rPr lang="ru-RU" dirty="0"/>
              <a:t>Сушка обуви</a:t>
            </a:r>
          </a:p>
          <a:p>
            <a:r>
              <a:rPr lang="ru-RU" dirty="0" err="1"/>
              <a:t>Акторы</a:t>
            </a:r>
            <a:r>
              <a:rPr lang="en-US" dirty="0"/>
              <a:t>: </a:t>
            </a:r>
            <a:r>
              <a:rPr lang="ru-RU" dirty="0"/>
              <a:t>Сушилка</a:t>
            </a:r>
          </a:p>
          <a:p>
            <a:r>
              <a:rPr lang="ru-RU" dirty="0"/>
              <a:t>Основной сценарий</a:t>
            </a:r>
            <a:r>
              <a:rPr lang="en-US" dirty="0"/>
              <a:t>:</a:t>
            </a:r>
            <a:endParaRPr lang="ru-RU" dirty="0"/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Сушилка нагревается до необходимой температуры.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Сушилка отслеживает уровень влажности микроклимата обуви.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Сушилка излучает тепло до конца цикла сушки.</a:t>
            </a:r>
          </a:p>
        </p:txBody>
      </p:sp>
    </p:spTree>
    <p:extLst>
      <p:ext uri="{BB962C8B-B14F-4D97-AF65-F5344CB8AC3E}">
        <p14:creationId xmlns:p14="http://schemas.microsoft.com/office/powerpoint/2010/main" val="3522437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BB0BB5-B394-FD1E-FF73-05D484E69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Mission</a:t>
            </a:r>
            <a:r>
              <a:rPr lang="ru-RU" sz="4000" dirty="0"/>
              <a:t> </a:t>
            </a:r>
            <a:r>
              <a:rPr lang="en-US" sz="4000" dirty="0"/>
              <a:t>UC</a:t>
            </a:r>
            <a:r>
              <a:rPr lang="ru-RU" sz="4000" dirty="0"/>
              <a:t> </a:t>
            </a:r>
            <a:r>
              <a:rPr lang="en-US" sz="4000" dirty="0"/>
              <a:t>Analysis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E2567A-10E3-F51E-0C5F-D55B61EC6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Use case </a:t>
            </a:r>
            <a:r>
              <a:rPr lang="ru-RU" dirty="0"/>
              <a:t>3</a:t>
            </a:r>
            <a:r>
              <a:rPr lang="en-US" dirty="0"/>
              <a:t>:</a:t>
            </a:r>
            <a:r>
              <a:rPr lang="ru-RU" dirty="0"/>
              <a:t> Отключение сушилки пользователем</a:t>
            </a:r>
          </a:p>
          <a:p>
            <a:r>
              <a:rPr lang="ru-RU" dirty="0" err="1"/>
              <a:t>Акторы</a:t>
            </a:r>
            <a:r>
              <a:rPr lang="en-US" dirty="0"/>
              <a:t>: </a:t>
            </a:r>
            <a:r>
              <a:rPr lang="ru-RU" dirty="0"/>
              <a:t>пользователь, сушилка</a:t>
            </a:r>
          </a:p>
          <a:p>
            <a:r>
              <a:rPr lang="ru-RU" dirty="0"/>
              <a:t>Основной сценарий</a:t>
            </a:r>
            <a:r>
              <a:rPr lang="en-US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Сушилка излучает тепло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Сушилка определяет уровень влажности микроклимата обуви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Пользователь выключает режим сушки самостоятельно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Сушилка отключает нагревательный элемент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Сушилка световым сигналом отображает выключение устройства.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Пользователь отключает сушилку от сети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Сушилка перестаёт определять уровень влажности микроклимата обуви</a:t>
            </a:r>
          </a:p>
        </p:txBody>
      </p:sp>
    </p:spTree>
    <p:extLst>
      <p:ext uri="{BB962C8B-B14F-4D97-AF65-F5344CB8AC3E}">
        <p14:creationId xmlns:p14="http://schemas.microsoft.com/office/powerpoint/2010/main" val="817876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9247FE-87F0-AAC9-0F84-95769DA3D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Mission</a:t>
            </a:r>
            <a:r>
              <a:rPr lang="ru-RU" sz="4000" dirty="0"/>
              <a:t> </a:t>
            </a:r>
            <a:r>
              <a:rPr lang="en-US" sz="4000" dirty="0"/>
              <a:t>UC</a:t>
            </a:r>
            <a:r>
              <a:rPr lang="ru-RU" sz="4000" dirty="0"/>
              <a:t> </a:t>
            </a:r>
            <a:r>
              <a:rPr lang="en-US" sz="4000" dirty="0"/>
              <a:t>Analysis</a:t>
            </a:r>
            <a:endParaRPr lang="ru-RU" sz="40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14F7A42-52F4-4A82-79A5-C31BBFD90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/>
          <a:lstStyle/>
          <a:p>
            <a:r>
              <a:rPr lang="en-US" dirty="0"/>
              <a:t>Use case </a:t>
            </a:r>
            <a:r>
              <a:rPr lang="ru-RU" dirty="0"/>
              <a:t>4</a:t>
            </a:r>
            <a:r>
              <a:rPr lang="en-US" dirty="0"/>
              <a:t>:</a:t>
            </a:r>
            <a:r>
              <a:rPr lang="ru-RU" dirty="0"/>
              <a:t> Автоматическое выключение устройства </a:t>
            </a:r>
          </a:p>
          <a:p>
            <a:r>
              <a:rPr lang="ru-RU" dirty="0" err="1"/>
              <a:t>Акторы</a:t>
            </a:r>
            <a:r>
              <a:rPr lang="en-US" dirty="0"/>
              <a:t>: </a:t>
            </a:r>
            <a:r>
              <a:rPr lang="ru-RU" dirty="0"/>
              <a:t>Сушилка</a:t>
            </a:r>
          </a:p>
          <a:p>
            <a:r>
              <a:rPr lang="ru-RU" dirty="0"/>
              <a:t>Основной сценарий</a:t>
            </a:r>
            <a:r>
              <a:rPr lang="en-US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Сушилка излучает тепло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Сушилка определяет уровень влажности микроклимата обуви.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Уровень влажности микроклимата становится допустимым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Сушилка отключает нагревательный элемент</a:t>
            </a:r>
          </a:p>
          <a:p>
            <a:pPr marL="914400" lvl="1" indent="-457200">
              <a:buFont typeface="+mj-lt"/>
              <a:buAutoNum type="arabicPeriod"/>
            </a:pPr>
            <a:r>
              <a:rPr lang="ru-RU" dirty="0"/>
              <a:t>Сушилка световым сигналом отображает включение устройства.</a:t>
            </a: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5907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2AC8EA-2EA8-1117-96DB-F7B337DC7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Показатели выполнения миссии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E1E94A-8CF7-A382-83C2-D61F7B0B4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/>
          <a:lstStyle/>
          <a:p>
            <a:r>
              <a:rPr lang="ru-RU" dirty="0"/>
              <a:t>Излишняя влага удалена из обуви и материал изделий не был </a:t>
            </a:r>
            <a:r>
              <a:rPr lang="ru-RU" dirty="0" err="1"/>
              <a:t>поверждён</a:t>
            </a:r>
            <a:r>
              <a:rPr lang="ru-RU" dirty="0"/>
              <a:t> .</a:t>
            </a:r>
          </a:p>
          <a:p>
            <a:r>
              <a:rPr lang="ru-RU" dirty="0"/>
              <a:t>Сушилка автоматически отключилась по завершении цикла сушки.</a:t>
            </a:r>
          </a:p>
        </p:txBody>
      </p:sp>
    </p:spTree>
    <p:extLst>
      <p:ext uri="{BB962C8B-B14F-4D97-AF65-F5344CB8AC3E}">
        <p14:creationId xmlns:p14="http://schemas.microsoft.com/office/powerpoint/2010/main" val="3112972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97D566-7654-5A53-5A91-237EAE8FF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Операционные ограничения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7F7364-121B-75DA-9911-6BC6C499E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Ограниченная мобильность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Сушилка работает от электросети, поэтому может работать максимум в нескольких метрах от розетки.</a:t>
            </a:r>
          </a:p>
        </p:txBody>
      </p:sp>
    </p:spTree>
    <p:extLst>
      <p:ext uri="{BB962C8B-B14F-4D97-AF65-F5344CB8AC3E}">
        <p14:creationId xmlns:p14="http://schemas.microsoft.com/office/powerpoint/2010/main" val="1117204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3EC558-D0EC-49FE-8643-6A258191D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27355"/>
          </a:xfrm>
        </p:spPr>
        <p:txBody>
          <a:bodyPr>
            <a:normAutofit fontScale="90000"/>
          </a:bodyPr>
          <a:lstStyle/>
          <a:p>
            <a:r>
              <a:rPr lang="ru-RU" dirty="0"/>
              <a:t>Показатели выполнения миссии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A5754EB-125E-C2C0-F644-0F4A6E5416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1" y="1691206"/>
            <a:ext cx="12035497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581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F6AB50-47B5-8185-6593-EE47630CB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51915"/>
          </a:xfrm>
        </p:spPr>
        <p:txBody>
          <a:bodyPr>
            <a:normAutofit/>
          </a:bodyPr>
          <a:lstStyle/>
          <a:p>
            <a:r>
              <a:rPr lang="ru-RU" sz="4000" dirty="0"/>
              <a:t>Требования и ограничения по отношению к системе в целом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D0D1AB-708E-F1E9-623D-63D39DB15C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1915"/>
            <a:ext cx="10876280" cy="4839335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Система должна нагревать поверхность сушилки до температуры в диапазоне от 55</a:t>
            </a:r>
            <a:r>
              <a:rPr lang="ru-RU" b="0" i="0" dirty="0">
                <a:solidFill>
                  <a:srgbClr val="000000"/>
                </a:solidFill>
                <a:effectLst/>
                <a:latin typeface="YS Text"/>
              </a:rPr>
              <a:t>°С до 65°С</a:t>
            </a:r>
            <a:r>
              <a:rPr lang="ru-RU" dirty="0"/>
              <a:t>. </a:t>
            </a:r>
          </a:p>
          <a:p>
            <a:r>
              <a:rPr lang="ru-RU" dirty="0"/>
              <a:t>Система должна нагревать гладящую поверхность до необходимой температуры менее чем за 5 минут.</a:t>
            </a:r>
          </a:p>
          <a:p>
            <a:r>
              <a:rPr lang="ru-RU" dirty="0"/>
              <a:t>Система должна уметь определять уровень влажности микроклимата обуви.</a:t>
            </a:r>
          </a:p>
          <a:p>
            <a:r>
              <a:rPr lang="ru-RU" dirty="0"/>
              <a:t>Система должна отключаться после завершения цикла сушки.</a:t>
            </a:r>
          </a:p>
          <a:p>
            <a:r>
              <a:rPr lang="ru-RU" dirty="0"/>
              <a:t>Цикл сушки определяется уровнем влаги изнутри обуви: допустимая влажность &lt;10%.</a:t>
            </a:r>
          </a:p>
          <a:p>
            <a:r>
              <a:rPr lang="ru-RU" dirty="0"/>
              <a:t>Система должна иметь индикатор влажности микроклимата обуви.</a:t>
            </a:r>
          </a:p>
          <a:p>
            <a:r>
              <a:rPr lang="ru-RU" dirty="0"/>
              <a:t>Система должна иметь индикатор состояния устройства.</a:t>
            </a:r>
          </a:p>
          <a:p>
            <a:r>
              <a:rPr lang="ru-RU" dirty="0"/>
              <a:t>Система должна работать более 2х лет без поломок.</a:t>
            </a:r>
          </a:p>
          <a:p>
            <a:r>
              <a:rPr lang="ru-RU" dirty="0"/>
              <a:t>Система должна иметь отводящие тепло отверстия для распределения его по всей внутренней поверхности обуви.</a:t>
            </a:r>
          </a:p>
          <a:p>
            <a:r>
              <a:rPr lang="ru-RU" dirty="0"/>
              <a:t>Форма корпуса должна позволять системе прилегать к обуви изнутри.</a:t>
            </a:r>
          </a:p>
          <a:p>
            <a:r>
              <a:rPr lang="ru-RU" dirty="0"/>
              <a:t>Электропитание и нагревательный элемент системы должны быть изолированы.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27579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B90A5F-DC3F-37B3-06B9-4FD86B592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357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Функции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7A7F97-D5C6-6886-321E-9A77790B8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1920"/>
            <a:ext cx="10515600" cy="478504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dirty="0"/>
              <a:t>Автоотключение:</a:t>
            </a:r>
          </a:p>
          <a:p>
            <a:pPr lvl="1"/>
            <a:r>
              <a:rPr lang="ru-RU" dirty="0"/>
              <a:t>Функция автоотключения позволяет сушилке автоматически выключаться после завершения цикла сушки, что повышает безопасность использования и экономит энергию.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Индикатор уровня влажности:</a:t>
            </a:r>
          </a:p>
          <a:p>
            <a:pPr lvl="1"/>
            <a:r>
              <a:rPr lang="ru-RU" dirty="0"/>
              <a:t>Сушилка имеет индикатор, показывающий уровень влажности микроклимата обуви, чтобы пользователь мог знать, сколько осталось од конца цикла сушки.</a:t>
            </a:r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Индикатор состояния устройства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ru-RU" dirty="0"/>
              <a:t>Сушилка имеет индикатор, уведомляющий об состоянии устройства.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914400" lvl="1" indent="-457200">
              <a:buFont typeface="+mj-lt"/>
              <a:buAutoNum type="arabicPeriod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71076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2427</TotalTime>
  <Words>671</Words>
  <Application>Microsoft Office PowerPoint</Application>
  <PresentationFormat>Широкоэкранный</PresentationFormat>
  <Paragraphs>109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YS Text</vt:lpstr>
      <vt:lpstr>Тема Office</vt:lpstr>
      <vt:lpstr>Сушилка обуви с  автоотключением</vt:lpstr>
      <vt:lpstr>           Диаграмма системного контекста</vt:lpstr>
      <vt:lpstr>Диаграмма входов и выходов</vt:lpstr>
      <vt:lpstr>Архитектурное представление</vt:lpstr>
      <vt:lpstr>Проблемы:</vt:lpstr>
      <vt:lpstr>Цели деятельности в надсистеме</vt:lpstr>
      <vt:lpstr>Операционные способности</vt:lpstr>
      <vt:lpstr>Операционные требования и ограничения</vt:lpstr>
      <vt:lpstr>Цели деятельности системы</vt:lpstr>
      <vt:lpstr>Фазы интересующей системы:</vt:lpstr>
      <vt:lpstr>Роли в фазах достижения миссии:</vt:lpstr>
      <vt:lpstr>Mission UC Analysis</vt:lpstr>
      <vt:lpstr>Mission UC Analysis</vt:lpstr>
      <vt:lpstr>Mission UC Analysis</vt:lpstr>
      <vt:lpstr>Mission UC Analysis</vt:lpstr>
      <vt:lpstr>Показатели выполнения миссии</vt:lpstr>
      <vt:lpstr>Операционные ограничения</vt:lpstr>
      <vt:lpstr>Показатели выполнения миссии </vt:lpstr>
      <vt:lpstr>Требования и ограничения по отношению к системе в целом</vt:lpstr>
      <vt:lpstr>Функции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Утюг с автоматическим отключением</dc:title>
  <dc:creator>Павел Колесников</dc:creator>
  <cp:lastModifiedBy>Borya</cp:lastModifiedBy>
  <cp:revision>19</cp:revision>
  <dcterms:created xsi:type="dcterms:W3CDTF">2024-01-27T10:02:35Z</dcterms:created>
  <dcterms:modified xsi:type="dcterms:W3CDTF">2025-05-11T14:54:51Z</dcterms:modified>
</cp:coreProperties>
</file>